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171A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7171A"/>
                </a:solidFill>
                <a:latin typeface="Georgia"/>
              </a:rPr>
              <a:t>Net Surplus / (Loss) per Event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P&amp;L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$#,##0;($#,##0)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17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-22000</c:v>
                </c:pt>
                <c:pt idx="1">
                  <c:v>-14000</c:v>
                </c:pt>
                <c:pt idx="2">
                  <c:v>-3500</c:v>
                </c:pt>
                <c:pt idx="3">
                  <c:v>8200</c:v>
                </c:pt>
              </c:numCache>
            </c:numRef>
          </c:val>
        </c:ser>
        <c:dLbls>
          <c:numFmt formatCode="$#,##0;($#,##0)" sourceLinked="0"/>
          <c:txPr>
            <a:bodyPr/>
            <a:lstStyle/>
            <a:p>
              <a:pPr>
                <a:defRPr b="0" i="0" strike="noStrike" sz="1000" u="none">
                  <a:solidFill>
                    <a:srgbClr val="1717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17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4C4"/>
              </a:solidFill>
              <a:prstDash val="solid"/>
              <a:round/>
            </a:ln>
          </c:spPr>
        </c:majorGridlines>
        <c:numFmt formatCode="&quot;$&quot;#,##0;(&quot;$&quot;#,##0)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B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4E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bubble3D val="0"/>
            <c:spPr>
              <a:solidFill>
                <a:srgbClr val="E5D9C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Under Budget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7F4E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00" spc="600" kern="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TAPE</a:t>
            </a:r>
            <a:pPr indent="0" marL="0">
              <a:buNone/>
            </a:pPr>
            <a:r>
              <a:rPr lang="en-US" sz="900" spc="600" kern="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PORTFOLIO № 02  /  FINANCIAL IMPACT DOSSIER     </a:t>
            </a:r>
            <a:pPr indent="0" marL="0">
              <a:buNone/>
            </a:pPr>
            <a:r>
              <a:rPr lang="en-US" sz="900" spc="6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 —  EDITION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BY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spc="-200" kern="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Thomas P.</a:t>
            </a:r>
            <a:endParaRPr lang="en-US" sz="10000" dirty="0"/>
          </a:p>
          <a:p>
            <a:pPr indent="0" marL="0">
              <a:buNone/>
            </a:pPr>
            <a:r>
              <a:rPr lang="en-US" sz="10000" b="1" spc="-200" kern="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pPr indent="0" marL="0">
              <a:buNone/>
            </a:pPr>
            <a:r>
              <a:rPr lang="en-US" sz="10000" b="1" i="1" spc="-200" kern="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indent="0" marL="0">
              <a:buNone/>
            </a:pPr>
            <a:r>
              <a:rPr lang="en-US" sz="10000" b="1" spc="-200" kern="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Coy.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Impact Portfolio</a:t>
            </a:r>
            <a:pPr indent="0" marL="0">
              <a:buNone/>
            </a:pPr>
            <a:r>
              <a:rPr lang="en-US" sz="2000" dirty="0">
                <a:solidFill>
                  <a:srgbClr val="A8C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</a:t>
            </a:r>
            <a:pPr indent="0" marL="0">
              <a:buNone/>
            </a:pPr>
            <a:r>
              <a:rPr lang="en-US" sz="2000" i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Accountant &amp; Grant Auditor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257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5504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tpmccoy2020@gmail.com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5257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80560" y="5504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480.828.1125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0" y="5257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38160" y="5504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Gilbert, AZ — Open to Relocation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6473952"/>
            <a:ext cx="11247120" cy="13716"/>
          </a:xfrm>
          <a:prstGeom prst="rect">
            <a:avLst/>
          </a:prstGeom>
          <a:solidFill>
            <a:srgbClr val="A8C5E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60196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 PORTFOLIO  ·  FY 2026  ·  © MMXXVI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02   </a:t>
            </a:r>
            <a:pPr indent="0" marL="0">
              <a:buNone/>
            </a:pPr>
            <a:r>
              <a:rPr lang="en-US" sz="900" spc="4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№ 02   /   02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6675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0" b="1" spc="-2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Senior-level </a:t>
            </a:r>
            <a:pPr indent="0" marL="0">
              <a:buNone/>
            </a:pPr>
            <a:r>
              <a:rPr lang="en-US" sz="6200" b="1" i="1" spc="-2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</a:t>
            </a:r>
            <a:pPr indent="0" marL="0">
              <a:buNone/>
            </a:pPr>
            <a:r>
              <a:rPr lang="en-US" sz="6200" b="1" spc="-2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professional.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the reconciliation frameworks, internal controls, and compliance regimes that steward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multi-billion dollar public fund portfolios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AZ360 ERP.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822960"/>
            <a:ext cx="4114800" cy="5120640"/>
          </a:xfrm>
          <a:prstGeom prst="rect">
            <a:avLst/>
          </a:prstGeom>
          <a:solidFill>
            <a:srgbClr val="EDE8DE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WHAT I BRING TO A TEAM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63840" y="1325880"/>
            <a:ext cx="45720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6384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Shorter close cycles.  </a:t>
            </a:r>
            <a:pPr indent="0" marL="0">
              <a:buNone/>
            </a:pPr>
            <a:r>
              <a:rPr lang="en-US" sz="1600" b="1" i="1" spc="-1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Cleaner audits.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workflows and reconciliation discipline that reduce month-end rework and keep cycles audit-ready.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3200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GAAP &amp; SAAM  </a:t>
            </a:r>
            <a:pPr indent="0" marL="0">
              <a:buNone/>
            </a:pPr>
            <a:r>
              <a:rPr lang="en-US" sz="1600" b="1" i="1" spc="-1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operating practice.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84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2 CFR 200, Single Audit Act, and federal grant allowability into day-to-day internal controls.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3840" y="4389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63840" y="4617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that  </a:t>
            </a:r>
            <a:pPr indent="0" marL="0">
              <a:buNone/>
            </a:pPr>
            <a:r>
              <a:rPr lang="en-US" sz="1600" b="1" i="1" spc="-1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drives decisions.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0" y="5166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and Smartsheet dashboards — powered by Power Query — that turn ledger activity into real-time strategy.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03   </a:t>
            </a:r>
            <a:pPr indent="0" marL="0">
              <a:buNone/>
            </a:pPr>
            <a:r>
              <a:rPr lang="en-US" sz="900" spc="4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№ 02   /   03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Accountant </a:t>
            </a:r>
            <a:pPr indent="0" marL="0">
              <a:buNone/>
            </a:pPr>
            <a:r>
              <a:rPr lang="en-US" sz="4400" b="1" spc="-100" kern="0" dirty="0">
                <a:solidFill>
                  <a:srgbClr val="A8C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pPr indent="0" marL="0">
              <a:buNone/>
            </a:pPr>
            <a:r>
              <a:rPr lang="en-US" sz="4400" b="1" i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Grant Auditor.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ARIZONA  ·  GOVERNOR'S OFFICE  ·  2021 — PRESENT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11247120" cy="9144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194560"/>
            <a:ext cx="3566160" cy="173736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94560"/>
            <a:ext cx="54864" cy="1737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Multi-Fund Stewardship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of $4B+ in payments, transfers, and audits across State and Federal portfolios inside AZ360.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194560"/>
            <a:ext cx="3566160" cy="173736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2194560"/>
            <a:ext cx="54864" cy="1737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Full-Cycle AP / 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collections, ACH setup, vendor profiles, invoice processing, and disbursements under GAAP / SAAM.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194560"/>
            <a:ext cx="3566160" cy="173736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194560"/>
            <a:ext cx="54864" cy="1737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Travel-Budget Architecture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Governor's Office travel policy framework — 95% of trips under budget across 60+ line items.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3566160" cy="173736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06240"/>
            <a:ext cx="54864" cy="1737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Dashboards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Smartsheet, and Power Query pipelines for allocation tracking and executive-level decisioning.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4206240"/>
            <a:ext cx="3566160" cy="173736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4206240"/>
            <a:ext cx="54864" cy="1737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Month- &amp; Year-End Close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reconciliation, payroll audits, GL posting, and clean closeouts across consecutive FY cycles.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4206240"/>
            <a:ext cx="3566160" cy="173736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4206240"/>
            <a:ext cx="54864" cy="1737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Subrecipient Oversight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1248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partner agencies monitored under 2 CFR 200 and Single Audit Act — standardized disbursement templates.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04   </a:t>
            </a:r>
            <a:pPr indent="0" marL="0">
              <a:buNone/>
            </a:pPr>
            <a:r>
              <a:rPr lang="en-US" sz="900" spc="400" kern="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NUMBER — PUBLIC FUNDS UNDER MANAGEMENT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0" y="1280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&amp; RECONCILED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spc="-400" kern="0" dirty="0">
                <a:solidFill>
                  <a:srgbClr val="A8C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pPr indent="0" marL="0">
              <a:buNone/>
            </a:pPr>
            <a:r>
              <a:rPr lang="en-US" sz="20000" b="1" spc="-400" kern="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buNone/>
            </a:pPr>
            <a:r>
              <a:rPr lang="en-US" sz="20000" b="1" i="1" spc="-400" kern="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indent="0" marL="0">
              <a:buNone/>
            </a:pPr>
            <a:r>
              <a:rPr lang="en-US" sz="13000" b="1" spc="-4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804672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2651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funds managed and reconciled inside the AZ360 State Accounting System — covering payments, transfers, and audits across State and Federal fiscal cycles.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" y="5669280"/>
            <a:ext cx="2560320" cy="685800"/>
          </a:xfrm>
          <a:prstGeom prst="rect">
            <a:avLst/>
          </a:prstGeom>
          <a:solidFill>
            <a:srgbClr val="2C2C29"/>
          </a:solidFill>
          <a:ln w="6350">
            <a:solidFill>
              <a:srgbClr val="A8C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" y="5760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CFR 200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" y="6053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Uniform Guidance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06140" y="5669280"/>
            <a:ext cx="2560320" cy="685800"/>
          </a:xfrm>
          <a:prstGeom prst="rect">
            <a:avLst/>
          </a:prstGeom>
          <a:solidFill>
            <a:srgbClr val="2C2C29"/>
          </a:solidFill>
          <a:ln w="6350">
            <a:solidFill>
              <a:srgbClr val="A8C5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6140" y="5760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06140" y="6053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Standard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95060" y="5669280"/>
            <a:ext cx="2560320" cy="685800"/>
          </a:xfrm>
          <a:prstGeom prst="rect">
            <a:avLst/>
          </a:prstGeom>
          <a:solidFill>
            <a:srgbClr val="2C2C29"/>
          </a:solidFill>
          <a:ln w="6350">
            <a:solidFill>
              <a:srgbClr val="A8C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5060" y="5760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5060" y="6053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Regulation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83980" y="5669280"/>
            <a:ext cx="2560320" cy="685800"/>
          </a:xfrm>
          <a:prstGeom prst="rect">
            <a:avLst/>
          </a:prstGeom>
          <a:solidFill>
            <a:srgbClr val="2C2C29"/>
          </a:solidFill>
          <a:ln w="6350">
            <a:solidFill>
              <a:srgbClr val="A8C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3980" y="5760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AZ360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83980" y="6053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AZ360 STATE ACCOUNTING SYSTEM  ·  FY 2021 – PRESENT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№ 02   /   04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05   </a:t>
            </a:r>
            <a:pPr indent="0" marL="0">
              <a:buNone/>
            </a:pPr>
            <a:r>
              <a:rPr lang="en-US" sz="900" spc="4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ANNUAL STAKEHOLDER EVENT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№ 02   /   05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indent="0" marL="0">
              <a:buNone/>
            </a:pPr>
            <a:r>
              <a:rPr lang="en-US" sz="3800" b="1" i="1" spc="-1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chronic loss</a:t>
            </a:r>
            <a:pPr indent="0" marL="0">
              <a:buNone/>
            </a:pPr>
            <a:r>
              <a:rPr lang="en-US" sz="38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</a:t>
            </a:r>
            <a:pPr indent="0" marL="0">
              <a:buNone/>
            </a:pPr>
            <a:r>
              <a:rPr lang="en-US" sz="38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self-funding surplus.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 ANNUAL EVENT  ·  FOUR-YEAR P&amp;L TURNAROUND  ·  DIRECTED BY T. McCOY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210312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680960" y="2103120"/>
            <a:ext cx="4023360" cy="3017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TURNAROUND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863840" y="2560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i="1" spc="-400" kern="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Y4</a:t>
            </a:r>
            <a:endParaRPr lang="en-US" sz="13000" dirty="0"/>
          </a:p>
        </p:txBody>
      </p:sp>
      <p:sp>
        <p:nvSpPr>
          <p:cNvPr id="14" name="Text 11"/>
          <p:cNvSpPr/>
          <p:nvPr/>
        </p:nvSpPr>
        <p:spPr>
          <a:xfrm>
            <a:off x="78638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ACHIEVED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863840" y="4206240"/>
            <a:ext cx="365760" cy="18288"/>
          </a:xfrm>
          <a:prstGeom prst="rect">
            <a:avLst/>
          </a:prstGeom>
          <a:solidFill>
            <a:srgbClr val="A8C5E8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0" y="4297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multi-year loss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surplus by Year 4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Carryover funds the next event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680960" y="5257800"/>
            <a:ext cx="4023360" cy="777240"/>
          </a:xfrm>
          <a:prstGeom prst="rect">
            <a:avLst/>
          </a:prstGeom>
          <a:solidFill>
            <a:srgbClr val="EDE8DE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5349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863840" y="5559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renegotiation · cost-allocation mapping · tightened financial controls.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06   </a:t>
            </a:r>
            <a:pPr indent="0" marL="0">
              <a:buNone/>
            </a:pPr>
            <a:r>
              <a:rPr lang="en-US" sz="900" spc="4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GOVERNOR'S OFFICE TRAVEL BUDGET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№ 02   /   06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Ninety-five percent of trips: </a:t>
            </a:r>
            <a:pPr indent="0" marL="0">
              <a:buNone/>
            </a:pPr>
            <a:r>
              <a:rPr lang="en-US" sz="3600" b="1" i="1" spc="-1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budget.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ADTRAV BOOKINGS  ·  BUDGET &amp; POLICY FRAMEWORK  ·  BUILT BY T. McCOY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210312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109728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spc="-2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109728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8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BUDGET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2103120"/>
            <a:ext cx="2926080" cy="1920240"/>
          </a:xfrm>
          <a:prstGeom prst="rect">
            <a:avLst/>
          </a:prstGeom>
          <a:solidFill>
            <a:srgbClr val="EDE8DE"/>
          </a:solidFill>
          <a:ln w="6350">
            <a:solidFill>
              <a:srgbClr val="1717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2286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60350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LINE ITEMS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35040" y="3401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against policy across the fiscal year.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915400" y="2103120"/>
            <a:ext cx="2926080" cy="1920240"/>
          </a:xfrm>
          <a:prstGeom prst="rect">
            <a:avLst/>
          </a:prstGeom>
          <a:solidFill>
            <a:srgbClr val="EDE8DE"/>
          </a:solidFill>
          <a:ln w="6350">
            <a:solidFill>
              <a:srgbClr val="1717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98280" y="2286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909828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BUDGET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098280" y="3401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rate across Governor's Office travel.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852160" y="4160520"/>
            <a:ext cx="2926080" cy="1920240"/>
          </a:xfrm>
          <a:prstGeom prst="rect">
            <a:avLst/>
          </a:prstGeom>
          <a:solidFill>
            <a:srgbClr val="EDE8DE"/>
          </a:solidFill>
          <a:ln w="6350">
            <a:solidFill>
              <a:srgbClr val="1717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343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6035040" y="5166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COMPLIANT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035040" y="5458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reimbursement reviewed against state/federal rules.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915400" y="4160520"/>
            <a:ext cx="2926080" cy="1920240"/>
          </a:xfrm>
          <a:prstGeom prst="rect">
            <a:avLst/>
          </a:prstGeom>
          <a:solidFill>
            <a:srgbClr val="EDE8DE"/>
          </a:solidFill>
          <a:ln w="6350">
            <a:solidFill>
              <a:srgbClr val="1717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98280" y="4343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400" dirty="0"/>
          </a:p>
        </p:txBody>
      </p:sp>
      <p:sp>
        <p:nvSpPr>
          <p:cNvPr id="27" name="Text 24"/>
          <p:cNvSpPr/>
          <p:nvPr/>
        </p:nvSpPr>
        <p:spPr>
          <a:xfrm>
            <a:off x="9098280" y="5166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098280" y="5458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closeouts on travel reconciliation.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07   </a:t>
            </a:r>
            <a:pPr indent="0" marL="0">
              <a:buNone/>
            </a:pPr>
            <a:r>
              <a:rPr lang="en-US" sz="900" spc="4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№ 02   /   07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indent="0" marL="0">
              <a:buNone/>
            </a:pPr>
            <a:r>
              <a:rPr lang="en-US" sz="3800" b="1" i="1" spc="-1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 rack.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 ·  ANALYTICS  ·  AUTOMATION  ·  REGULATORY FRAMEWORKS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3596640" cy="201168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37744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AZ360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Accounting System — payments, transfers, HRIS travel claims, AP/AR, audit trails.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82440" y="2148840"/>
            <a:ext cx="3596640" cy="201168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6760" y="24231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5567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96840" y="237744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96840" y="2880360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56760" y="324612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 dashboards, allocation tracking, executive-facing visualizations.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07680" y="2148840"/>
            <a:ext cx="3596640" cy="201168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82000" y="24231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22080" y="237744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Query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22080" y="2880360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82000" y="324612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pipelines — cleaning, shaping, and consolidating multi-source ledgers.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3596640" cy="201168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461772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Smartsheet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71600" y="5120640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548640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allocation logs, multi-stakeholder trackers, data-integrity monitoring.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82440" y="4389120"/>
            <a:ext cx="3596640" cy="201168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56760" y="46634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45567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96840" y="461772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Excel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196840" y="5120640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56760" y="548640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tables, SUMIFS-driven reporting, budget models, 12-month reconciliations.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07680" y="4389120"/>
            <a:ext cx="3596640" cy="201168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82000" y="46634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83820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022080" y="461772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022080" y="5120640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82000" y="548640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 · SAAM · 2 CFR 200 · Single Audit Act · Federal grant allowability.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08   </a:t>
            </a:r>
            <a:pPr indent="0" marL="0">
              <a:buNone/>
            </a:pPr>
            <a:r>
              <a:rPr lang="en-US" sz="900" spc="4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CREDENTIALS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№ 02   /   08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</a:t>
            </a:r>
            <a:pPr indent="0" marL="0">
              <a:buNone/>
            </a:pPr>
            <a:r>
              <a:rPr lang="en-US" sz="3800" b="1" i="1" spc="-1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full-ride</a:t>
            </a:r>
            <a:pPr indent="0" marL="0">
              <a:buNone/>
            </a:pPr>
            <a:r>
              <a:rPr lang="en-US" sz="38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an </a:t>
            </a:r>
            <a:pPr indent="0" marL="0">
              <a:buNone/>
            </a:pPr>
            <a:r>
              <a:rPr lang="en-US" sz="38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MBA.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BACKGROUND  ·  HONORS  ·  PROFESSIONAL CREDENTIALS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577840" cy="3291840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of Business</a:t>
            </a:r>
            <a:endParaRPr lang="en-US" sz="3400" dirty="0"/>
          </a:p>
          <a:p>
            <a:pPr indent="0" marL="0">
              <a:buNone/>
            </a:pPr>
            <a:r>
              <a:rPr lang="en-US" sz="3400" b="1" spc="-100" kern="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i="1" spc="-100" kern="0" dirty="0">
                <a:solidFill>
                  <a:srgbClr val="A8C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Emphasis in Finance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777240" y="4846320"/>
            <a:ext cx="457200" cy="18288"/>
          </a:xfrm>
          <a:prstGeom prst="rect">
            <a:avLst/>
          </a:prstGeom>
          <a:solidFill>
            <a:srgbClr val="A8C5E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9377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CANYON UNIVERSITY  ·  PHOENIX, AZ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2148840"/>
            <a:ext cx="5486400" cy="3291840"/>
          </a:xfrm>
          <a:prstGeom prst="rect">
            <a:avLst/>
          </a:prstGeom>
          <a:solidFill>
            <a:srgbClr val="EDE8DE"/>
          </a:solidFill>
          <a:ln w="6350">
            <a:solidFill>
              <a:srgbClr val="1717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7960" y="27432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B.S. Business Finance</a:t>
            </a:r>
            <a:endParaRPr lang="en-US" sz="2600" dirty="0"/>
          </a:p>
          <a:p>
            <a:pPr indent="0" marL="0">
              <a:buNone/>
            </a:pPr>
            <a:r>
              <a:rPr lang="en-US" sz="2600" b="1" i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Minor, Mathematics</a:t>
            </a:r>
            <a:endParaRPr lang="en-US" sz="2600" dirty="0"/>
          </a:p>
          <a:p>
            <a:pPr indent="0" marL="0">
              <a:buNone/>
            </a:pPr>
            <a:r>
              <a:rPr lang="en-US" sz="2600" b="1" i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Certificate, Investments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537960" y="4663440"/>
            <a:ext cx="1225296" cy="274320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6634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DEAN'S LIST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854696" y="4663440"/>
            <a:ext cx="1691640" cy="274320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1" name="Text 19"/>
          <p:cNvSpPr/>
          <p:nvPr/>
        </p:nvSpPr>
        <p:spPr>
          <a:xfrm>
            <a:off x="7854696" y="4663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LUMBERJACK FULL RIDE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637776" y="4663440"/>
            <a:ext cx="448056" cy="274320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3" name="Text 21"/>
          <p:cNvSpPr/>
          <p:nvPr/>
        </p:nvSpPr>
        <p:spPr>
          <a:xfrm>
            <a:off x="9637776" y="466344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177272" y="4663440"/>
            <a:ext cx="681228" cy="274320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5" name="Text 23"/>
          <p:cNvSpPr/>
          <p:nvPr/>
        </p:nvSpPr>
        <p:spPr>
          <a:xfrm>
            <a:off x="10177272" y="4663440"/>
            <a:ext cx="68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1ST-GEN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7960" y="5074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ARIZONA UNIVERSITY  ·  FLAGSTAFF, AZ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687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58704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Pathway — advancing toward licensure</a:t>
            </a:r>
            <a:pPr indent="0" marL="0">
              <a:buNone/>
            </a:pPr>
            <a:r>
              <a:rPr lang="en-US" sz="11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&amp; Health Insurance License</a:t>
            </a:r>
            <a:pPr indent="0" marL="0">
              <a:buNone/>
            </a:pPr>
            <a:r>
              <a:rPr lang="en-US" sz="11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Mutual FastTrack Sales Course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09   </a:t>
            </a:r>
            <a:pPr indent="0" marL="0">
              <a:buNone/>
            </a:pPr>
            <a:r>
              <a:rPr lang="en-US" sz="900" spc="400" kern="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№ 02   /   09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desks. </a:t>
            </a:r>
            <a:pPr indent="0" marL="0">
              <a:buNone/>
            </a:pPr>
            <a:r>
              <a:rPr lang="en-US" sz="3800" b="1" i="1" spc="-1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years.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FINANCIAL REPRESENTATIVE TO SENIOR ACCOUNTANT  ·  CHRONOLOGICALLY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10332720" cy="137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2798064"/>
            <a:ext cx="274320" cy="274320"/>
          </a:xfrm>
          <a:prstGeom prst="ellipse">
            <a:avLst/>
          </a:prstGeom>
          <a:solidFill>
            <a:srgbClr val="A8C5E8"/>
          </a:solidFill>
          <a:ln w="12700">
            <a:solidFill>
              <a:srgbClr val="1717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3246120"/>
            <a:ext cx="3566160" cy="292608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3246120"/>
            <a:ext cx="54864" cy="2926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Representative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Mutual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36576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92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financial planning services  ·  earned Life &amp; Health Insurance license  ·  completed Northwestern Mutual's FastTrack Sales Course.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2798064"/>
            <a:ext cx="274320" cy="274320"/>
          </a:xfrm>
          <a:prstGeom prst="ellipse">
            <a:avLst/>
          </a:prstGeom>
          <a:solidFill>
            <a:srgbClr val="A8C5E8"/>
          </a:solidFill>
          <a:ln w="12700">
            <a:solidFill>
              <a:srgbClr val="1717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II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— MAY 2021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0" y="3246120"/>
            <a:ext cx="3566160" cy="2926080"/>
          </a:xfrm>
          <a:prstGeom prst="rect">
            <a:avLst/>
          </a:prstGeom>
          <a:solidFill>
            <a:srgbClr val="EDE8DE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246120"/>
            <a:ext cx="54864" cy="2926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100" kern="0" dirty="0">
                <a:solidFill>
                  <a:srgbClr val="17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 Delivery Consultant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7200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 ·  Internship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754880"/>
            <a:ext cx="36576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892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tax returns for 50+ cross-border clients across US, Canada, Mexico, India, UK  ·  reconciled 100+ high-net-worth W-2s.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58400" y="2798064"/>
            <a:ext cx="274320" cy="2743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717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III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006840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— PRESENT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12480" y="3246120"/>
            <a:ext cx="3566160" cy="2926080"/>
          </a:xfrm>
          <a:prstGeom prst="rect">
            <a:avLst/>
          </a:prstGeom>
          <a:solidFill>
            <a:srgbClr val="1E3A5F"/>
          </a:solidFill>
          <a:ln w="9525">
            <a:solidFill>
              <a:srgbClr val="1717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3246120"/>
            <a:ext cx="54864" cy="2926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100" kern="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Accountant &amp; Grant Auditor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68680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Arizona  ·  Governor's Office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86800" y="4754880"/>
            <a:ext cx="365760" cy="18288"/>
          </a:xfrm>
          <a:prstGeom prst="rect">
            <a:avLst/>
          </a:prstGeom>
          <a:solidFill>
            <a:srgbClr val="A8C5E8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0" y="4892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$4B+ in public funds managed  ·  95% travel-budget compliance  ·  $60K event loss-to-surplus turnaround  ·  Power BI, Smartsheet, Power Query dashboards.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10   </a:t>
            </a:r>
            <a:pPr indent="0" marL="0">
              <a:buNone/>
            </a:pPr>
            <a:r>
              <a:rPr lang="en-US" sz="900" spc="400" kern="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 ·  OPEN 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75120" y="1280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LEDGER, VOL. I  ·  FIN.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972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for  </a:t>
            </a:r>
            <a:endParaRPr lang="en-US" sz="9600" dirty="0"/>
          </a:p>
          <a:p>
            <a:pPr indent="0" marL="0">
              <a:buNone/>
            </a:pPr>
            <a:r>
              <a:rPr lang="en-US" sz="9600" b="1" i="1" spc="-200" kern="0" dirty="0">
                <a:solidFill>
                  <a:srgbClr val="A8C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roles.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731520" y="4983480"/>
            <a:ext cx="18288" cy="777240"/>
          </a:xfrm>
          <a:prstGeom prst="rect">
            <a:avLst/>
          </a:prstGeom>
          <a:solidFill>
            <a:srgbClr val="A8C5E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983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52303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tpmccoy2020@gmail.com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4983480"/>
            <a:ext cx="18288" cy="777240"/>
          </a:xfrm>
          <a:prstGeom prst="rect">
            <a:avLst/>
          </a:prstGeom>
          <a:solidFill>
            <a:srgbClr val="A8C5E8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4983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26280" y="52303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480.828.1125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983480"/>
            <a:ext cx="18288" cy="777240"/>
          </a:xfrm>
          <a:prstGeom prst="rect">
            <a:avLst/>
          </a:prstGeom>
          <a:solidFill>
            <a:srgbClr val="A8C5E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4983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52303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Gilbert, AZ — Open to Relocation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473952"/>
            <a:ext cx="11247120" cy="13716"/>
          </a:xfrm>
          <a:prstGeom prst="rect">
            <a:avLst/>
          </a:prstGeom>
          <a:solidFill>
            <a:srgbClr val="A8C5E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60196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 PORTFOLIO  —  THOMAS MCCOY  —  FIN.  ·  EDITION 02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Impact Portfolio — Thomas P. McCoy</dc:title>
  <dc:subject>PptxGenJS Presentation</dc:subject>
  <dc:creator>Thomas P. McCoy</dc:creator>
  <cp:lastModifiedBy>Thomas P. McCoy</cp:lastModifiedBy>
  <cp:revision>1</cp:revision>
  <dcterms:created xsi:type="dcterms:W3CDTF">2026-04-22T22:41:25Z</dcterms:created>
  <dcterms:modified xsi:type="dcterms:W3CDTF">2026-04-22T22:41:25Z</dcterms:modified>
</cp:coreProperties>
</file>